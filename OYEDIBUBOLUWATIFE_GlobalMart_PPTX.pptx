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41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9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5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6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11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0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0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08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9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504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734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30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882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04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324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92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5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7500" y="7366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0EA59-01AA-1980-5BC2-F4D419BDC443}"/>
              </a:ext>
            </a:extLst>
          </p:cNvPr>
          <p:cNvSpPr txBox="1"/>
          <p:nvPr/>
        </p:nvSpPr>
        <p:spPr>
          <a:xfrm>
            <a:off x="1319134" y="1638473"/>
            <a:ext cx="6460761" cy="954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GlobalMart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Supply Chain &amp; Business Performance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9977" y="928558"/>
            <a:ext cx="52790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Business Problem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500" y="719852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1818390"/>
            <a:ext cx="7747000" cy="393954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en-US" sz="2500" dirty="0"/>
              <a:t>From this </a:t>
            </a:r>
            <a:r>
              <a:rPr sz="2500" dirty="0" err="1"/>
              <a:t>GlobalMart</a:t>
            </a:r>
            <a:r>
              <a:rPr sz="2500" dirty="0"/>
              <a:t> </a:t>
            </a:r>
            <a:r>
              <a:rPr lang="en-US" sz="2500" dirty="0"/>
              <a:t> dataset, the company </a:t>
            </a:r>
            <a:r>
              <a:rPr sz="2500" dirty="0"/>
              <a:t>experienced strong sales growth across African markets, </a:t>
            </a:r>
            <a:endParaRPr lang="en-US" sz="2500" dirty="0"/>
          </a:p>
          <a:p>
            <a:pPr algn="l">
              <a:defRPr sz="2000"/>
            </a:pPr>
            <a:r>
              <a:rPr lang="en-US" sz="2500" dirty="0"/>
              <a:t>But</a:t>
            </a:r>
            <a:r>
              <a:rPr sz="2500" dirty="0"/>
              <a:t> operational performance has not improved at the same pace.</a:t>
            </a:r>
          </a:p>
          <a:p>
            <a:pPr algn="l">
              <a:defRPr sz="2000"/>
            </a:pPr>
            <a:r>
              <a:rPr sz="2500" dirty="0"/>
              <a:t>• Frequent delivery delays reduced customer satisfaction.</a:t>
            </a:r>
          </a:p>
          <a:p>
            <a:pPr algn="l">
              <a:defRPr sz="2000"/>
            </a:pPr>
            <a:r>
              <a:rPr sz="2500" dirty="0"/>
              <a:t>• Inventory imbalance increased holding costs and stock-outs.</a:t>
            </a:r>
          </a:p>
          <a:p>
            <a:pPr algn="l">
              <a:defRPr sz="2000"/>
            </a:pPr>
            <a:r>
              <a:rPr sz="2500" dirty="0"/>
              <a:t>• Profit margins remained below expectations despite revenue growth.</a:t>
            </a:r>
          </a:p>
          <a:p>
            <a:pPr algn="l">
              <a:defRPr sz="2000"/>
            </a:pPr>
            <a:endParaRPr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9603" y="1028700"/>
            <a:ext cx="42466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Project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500" y="718088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4459" y="2286000"/>
            <a:ext cx="7555043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sz="2800" dirty="0"/>
              <a:t>• </a:t>
            </a:r>
            <a:r>
              <a:rPr lang="en-US" sz="2800" dirty="0"/>
              <a:t>I imported</a:t>
            </a:r>
            <a:r>
              <a:rPr sz="2800" dirty="0"/>
              <a:t> and cleaned data in Power Query.</a:t>
            </a:r>
          </a:p>
          <a:p>
            <a:pPr algn="l">
              <a:defRPr sz="2000"/>
            </a:pPr>
            <a:r>
              <a:rPr sz="2800" dirty="0"/>
              <a:t>• </a:t>
            </a:r>
            <a:r>
              <a:rPr lang="en-US" sz="2800" dirty="0"/>
              <a:t>I s</a:t>
            </a:r>
            <a:r>
              <a:rPr sz="2800" dirty="0"/>
              <a:t>tandardized records and validated data quality.</a:t>
            </a:r>
          </a:p>
          <a:p>
            <a:pPr algn="l">
              <a:defRPr sz="2000"/>
            </a:pPr>
            <a:r>
              <a:rPr sz="2800" dirty="0"/>
              <a:t>• </a:t>
            </a:r>
            <a:r>
              <a:rPr lang="en-US" sz="2800" dirty="0"/>
              <a:t>I b</a:t>
            </a:r>
            <a:r>
              <a:rPr sz="2800" dirty="0"/>
              <a:t>uilt KPIs using DAX measures.</a:t>
            </a:r>
          </a:p>
          <a:p>
            <a:pPr algn="l">
              <a:defRPr sz="2000"/>
            </a:pPr>
            <a:r>
              <a:rPr sz="2800" dirty="0"/>
              <a:t>• </a:t>
            </a:r>
            <a:r>
              <a:rPr lang="en-US" sz="2800" dirty="0"/>
              <a:t>I d</a:t>
            </a:r>
            <a:r>
              <a:rPr sz="2800" dirty="0"/>
              <a:t>eveloped interactive Power BI dashboards.</a:t>
            </a:r>
          </a:p>
          <a:p>
            <a:pPr algn="l">
              <a:defRPr sz="2000"/>
            </a:pP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6740" y="1131009"/>
            <a:ext cx="29819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Data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37006" y="7366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9549" y="1997839"/>
            <a:ext cx="7749914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Dataset includes:</a:t>
            </a:r>
          </a:p>
          <a:p>
            <a:pPr algn="l">
              <a:defRPr sz="2000"/>
            </a:pPr>
            <a:r>
              <a:rPr dirty="0"/>
              <a:t>• Orders</a:t>
            </a:r>
          </a:p>
          <a:p>
            <a:pPr algn="l">
              <a:defRPr sz="2000"/>
            </a:pPr>
            <a:r>
              <a:rPr dirty="0"/>
              <a:t>• Suppliers</a:t>
            </a:r>
          </a:p>
          <a:p>
            <a:pPr algn="l">
              <a:defRPr sz="2000"/>
            </a:pPr>
            <a:r>
              <a:rPr dirty="0"/>
              <a:t>• Product Categories</a:t>
            </a:r>
          </a:p>
          <a:p>
            <a:pPr algn="l">
              <a:defRPr sz="2000"/>
            </a:pPr>
            <a:r>
              <a:rPr dirty="0"/>
              <a:t>• Regions</a:t>
            </a:r>
          </a:p>
          <a:p>
            <a:pPr algn="l">
              <a:defRPr sz="2000"/>
            </a:pPr>
            <a:r>
              <a:rPr dirty="0"/>
              <a:t>• Shipping Information</a:t>
            </a:r>
          </a:p>
          <a:p>
            <a:pPr algn="l">
              <a:defRPr sz="2000"/>
            </a:pPr>
            <a:r>
              <a:rPr dirty="0"/>
              <a:t>• Revenue and Profit Metrics</a:t>
            </a:r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Analysis focused on operational efficiency and profitability.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9490" y="1253663"/>
            <a:ext cx="60276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Delivery Performance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249" y="8128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8420" y="2151727"/>
            <a:ext cx="7702658" cy="25545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Key findings:</a:t>
            </a:r>
          </a:p>
          <a:p>
            <a:pPr algn="l">
              <a:defRPr sz="2000"/>
            </a:pPr>
            <a:r>
              <a:rPr dirty="0"/>
              <a:t>• On-time delivery rate: 32.53%</a:t>
            </a:r>
          </a:p>
          <a:p>
            <a:pPr algn="l">
              <a:defRPr sz="2000"/>
            </a:pPr>
            <a:r>
              <a:rPr dirty="0"/>
              <a:t>• Late delivery rate: 66.94%</a:t>
            </a:r>
          </a:p>
          <a:p>
            <a:pPr algn="l">
              <a:defRPr sz="2000"/>
            </a:pPr>
            <a:r>
              <a:rPr dirty="0"/>
              <a:t>• Damaged goods rate: 2.59%</a:t>
            </a:r>
          </a:p>
          <a:p>
            <a:pPr algn="l">
              <a:defRPr sz="2000"/>
            </a:pPr>
            <a:r>
              <a:rPr dirty="0"/>
              <a:t>• Average shipping time: 132.47 days</a:t>
            </a:r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Several suppliers consistently recorded higher late-delivery rates, </a:t>
            </a:r>
            <a:endParaRPr lang="en-US" dirty="0"/>
          </a:p>
          <a:p>
            <a:pPr algn="l">
              <a:defRPr sz="2000"/>
            </a:pPr>
            <a:r>
              <a:rPr dirty="0"/>
              <a:t>indicating opportunities for supplier performance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9721" y="1212745"/>
            <a:ext cx="45175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Profitability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500" y="7874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925" y="2095291"/>
            <a:ext cx="7710149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Dashboard highlights:</a:t>
            </a:r>
          </a:p>
          <a:p>
            <a:pPr algn="l">
              <a:defRPr sz="2000"/>
            </a:pPr>
            <a:r>
              <a:rPr dirty="0"/>
              <a:t>• Total Revenue: $701.42M</a:t>
            </a:r>
          </a:p>
          <a:p>
            <a:pPr algn="l">
              <a:defRPr sz="2000"/>
            </a:pPr>
            <a:r>
              <a:rPr dirty="0"/>
              <a:t>• Total Profit: $192.69M</a:t>
            </a:r>
          </a:p>
          <a:p>
            <a:pPr algn="l">
              <a:defRPr sz="2000"/>
            </a:pPr>
            <a:r>
              <a:rPr dirty="0"/>
              <a:t>• Profit Margin: 27.47%</a:t>
            </a:r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Some product categories generated significantly higher profits, </a:t>
            </a:r>
            <a:endParaRPr lang="en-US" dirty="0"/>
          </a:p>
          <a:p>
            <a:pPr algn="l">
              <a:defRPr sz="2000"/>
            </a:pPr>
            <a:r>
              <a:rPr dirty="0"/>
              <a:t>while supplier contributions varied considerably.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1446396"/>
            <a:ext cx="45480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Inventory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17500" y="7366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4557" y="2613392"/>
            <a:ext cx="7764905" cy="163121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Observations:</a:t>
            </a:r>
          </a:p>
          <a:p>
            <a:pPr algn="l">
              <a:defRPr sz="2000"/>
            </a:pPr>
            <a:r>
              <a:rPr dirty="0"/>
              <a:t>• Inventory should better reflect customer demand.</a:t>
            </a:r>
          </a:p>
          <a:p>
            <a:pPr algn="l">
              <a:defRPr sz="2000"/>
            </a:pPr>
            <a:r>
              <a:rPr dirty="0"/>
              <a:t>• Overstocking ties up working capital.</a:t>
            </a:r>
          </a:p>
          <a:p>
            <a:pPr algn="l">
              <a:defRPr sz="2000"/>
            </a:pPr>
            <a:r>
              <a:rPr dirty="0"/>
              <a:t>• Stock shortages may reduce customer satisfaction.</a:t>
            </a:r>
          </a:p>
          <a:p>
            <a:pPr algn="l">
              <a:defRPr sz="2000"/>
            </a:pPr>
            <a:r>
              <a:rPr dirty="0"/>
              <a:t>• Continuous inventory monitoring is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9446" y="1393253"/>
            <a:ext cx="31614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Business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7500" y="7366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5734" y="2767280"/>
            <a:ext cx="7789287" cy="163121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Revenue fluctuated throughout the year, suggesting seasonal demand patterns.</a:t>
            </a:r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Monitoring monthly performance will improve forecasting, </a:t>
            </a:r>
            <a:endParaRPr lang="en-US" dirty="0"/>
          </a:p>
          <a:p>
            <a:pPr algn="l">
              <a:defRPr sz="2000"/>
            </a:pPr>
            <a:r>
              <a:rPr dirty="0"/>
              <a:t>budgeting, and inventory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0155" y="1296024"/>
            <a:ext cx="54729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500" y="777219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538" y="2312649"/>
            <a:ext cx="7749914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dirty="0"/>
              <a:t>1. Strengthen supplier performance monitoring.</a:t>
            </a:r>
          </a:p>
          <a:p>
            <a:pPr algn="l">
              <a:defRPr sz="2000"/>
            </a:pPr>
            <a:r>
              <a:rPr dirty="0"/>
              <a:t>2. Optimize shipping methods.</a:t>
            </a:r>
          </a:p>
          <a:p>
            <a:pPr algn="l">
              <a:defRPr sz="2000"/>
            </a:pPr>
            <a:r>
              <a:rPr dirty="0"/>
              <a:t>3. Improve inventory forecasting.</a:t>
            </a:r>
          </a:p>
          <a:p>
            <a:pPr algn="l">
              <a:defRPr sz="2000"/>
            </a:pPr>
            <a:r>
              <a:rPr dirty="0"/>
              <a:t>4. Focus on high-margin products.</a:t>
            </a:r>
          </a:p>
          <a:p>
            <a:pPr algn="l">
              <a:defRPr sz="2000"/>
            </a:pPr>
            <a:r>
              <a:rPr dirty="0"/>
              <a:t>5. Review low-performing suppliers and categories.</a:t>
            </a:r>
          </a:p>
          <a:p>
            <a:pPr algn="l">
              <a:defRPr sz="2000"/>
            </a:pPr>
            <a:r>
              <a:rPr dirty="0"/>
              <a:t>6. Continue using Power BI dashboards for executive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1172" y="1557003"/>
            <a:ext cx="22076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17500" y="736600"/>
            <a:ext cx="8255000" cy="508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3067" y="2613392"/>
            <a:ext cx="7657866" cy="163121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none">
            <a:spAutoFit/>
          </a:bodyPr>
          <a:lstStyle/>
          <a:p>
            <a:pPr algn="l">
              <a:defRPr sz="2000"/>
            </a:pPr>
            <a:r>
              <a:rPr dirty="0"/>
              <a:t>The analysis demonstrates that integrating Power BI with supply chain data</a:t>
            </a:r>
            <a:endParaRPr lang="en-US" dirty="0"/>
          </a:p>
          <a:p>
            <a:pPr algn="l">
              <a:defRPr sz="2000"/>
            </a:pPr>
            <a:r>
              <a:rPr dirty="0"/>
              <a:t> provides management with timely, actionable insights. </a:t>
            </a:r>
            <a:endParaRPr lang="en-US" dirty="0"/>
          </a:p>
          <a:p>
            <a:pPr algn="l">
              <a:defRPr sz="2000"/>
            </a:pPr>
            <a:r>
              <a:rPr dirty="0"/>
              <a:t>Implementing the recommended improvements can reduce delivery delays,</a:t>
            </a:r>
            <a:endParaRPr lang="en-US" dirty="0"/>
          </a:p>
          <a:p>
            <a:pPr algn="l">
              <a:defRPr sz="2000"/>
            </a:pPr>
            <a:r>
              <a:rPr dirty="0"/>
              <a:t> improve customer satisfaction, optimize inventory,</a:t>
            </a:r>
            <a:endParaRPr lang="en-US" dirty="0"/>
          </a:p>
          <a:p>
            <a:pPr algn="l">
              <a:defRPr sz="2000"/>
            </a:pPr>
            <a:r>
              <a:rPr dirty="0"/>
              <a:t> and increase overall profitability.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84</TotalTime>
  <Words>370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OYEDIBU BOLUWATIFE</cp:lastModifiedBy>
  <cp:revision>3</cp:revision>
  <dcterms:created xsi:type="dcterms:W3CDTF">2013-01-27T09:14:16Z</dcterms:created>
  <dcterms:modified xsi:type="dcterms:W3CDTF">2026-07-21T10:24:28Z</dcterms:modified>
  <cp:category/>
</cp:coreProperties>
</file>